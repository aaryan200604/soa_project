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tkI3EFKvhS9YleBk5M+n09MnX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113127-47D2-4EE3-9D6E-61976BB60C62}">
  <a:tblStyle styleId="{2F113127-47D2-4EE3-9D6E-61976BB60C6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ad77c513f_3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ad77c513f_3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fad77c513f_3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researchgate.net/publication/380174951_Machine_Learning_Approach_for_Fraud_Detection_System_in_Financial_Institution_A_Web_Base_Application" TargetMode="External"/><Relationship Id="rId4" Type="http://schemas.openxmlformats.org/officeDocument/2006/relationships/hyperlink" Target="https://www.sciencedirect.com/science/article/pii/S2214212626001389" TargetMode="External"/><Relationship Id="rId5" Type="http://schemas.openxmlformats.org/officeDocument/2006/relationships/hyperlink" Target="https://www.researchgate.net/publication/341163522_Securing_Web_Applications_Using_Security_Patterns" TargetMode="External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/>
          <p:nvPr/>
        </p:nvSpPr>
        <p:spPr>
          <a:xfrm>
            <a:off x="2995612" y="2868213"/>
            <a:ext cx="620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25-08-2026</a:t>
            </a:r>
            <a:endParaRPr/>
          </a:p>
        </p:txBody>
      </p:sp>
      <p:graphicFrame>
        <p:nvGraphicFramePr>
          <p:cNvPr id="165" name="Google Shape;165;p1"/>
          <p:cNvGraphicFramePr/>
          <p:nvPr/>
        </p:nvGraphicFramePr>
        <p:xfrm>
          <a:off x="8193271" y="48985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{2F113127-47D2-4EE3-9D6E-61976BB60C62}</a:tableStyleId>
              </a:tblPr>
              <a:tblGrid>
                <a:gridCol w="3702050"/>
              </a:tblGrid>
              <a:tr h="124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lang="en-IN" sz="16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Team Members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Name: Ch. Aditya, A. Aaryan, K. Gokul 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IN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Roll Number: 24200</a:t>
                      </a:r>
                      <a:r>
                        <a:rPr b="1" lang="en-I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30669, 2420090098, 2420030716</a:t>
                      </a:r>
                      <a:endParaRPr sz="15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6" name="Google Shape;166;p1"/>
          <p:cNvGrpSpPr/>
          <p:nvPr/>
        </p:nvGrpSpPr>
        <p:grpSpPr>
          <a:xfrm>
            <a:off x="7981129" y="4741590"/>
            <a:ext cx="307843" cy="280931"/>
            <a:chOff x="1510710" y="1589091"/>
            <a:chExt cx="307843" cy="280931"/>
          </a:xfrm>
        </p:grpSpPr>
        <p:sp>
          <p:nvSpPr>
            <p:cNvPr id="167" name="Google Shape;167;p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>
                <a:gd fmla="val 50000" name="adj"/>
              </a:avLst>
            </a:prstGeom>
            <a:solidFill>
              <a:srgbClr val="FF66FF"/>
            </a:solidFill>
            <a:ln cap="flat" cmpd="sng" w="19050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 rot="-9747857">
              <a:off x="1683856" y="1639371"/>
              <a:ext cx="114245" cy="153379"/>
            </a:xfrm>
            <a:prstGeom prst="triangle">
              <a:avLst>
                <a:gd fmla="val 50000" name="adj"/>
              </a:avLst>
            </a:prstGeom>
            <a:solidFill>
              <a:srgbClr val="FF66FF"/>
            </a:solidFill>
            <a:ln cap="flat" cmpd="sng" w="19050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69" name="Google Shape;169;p1"/>
          <p:cNvGraphicFramePr/>
          <p:nvPr/>
        </p:nvGraphicFramePr>
        <p:xfrm>
          <a:off x="-795813" y="4774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{2F113127-47D2-4EE3-9D6E-61976BB60C62}</a:tableStyleId>
              </a:tblPr>
              <a:tblGrid>
                <a:gridCol w="1373575"/>
                <a:gridCol w="4528750"/>
              </a:tblGrid>
              <a:tr h="133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500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Under the Guidance of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10"/>
                        <a:buFont typeface="Times New Roman"/>
                        <a:buNone/>
                      </a:pPr>
                      <a:r>
                        <a:rPr b="1" lang="en-IN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Dr.</a:t>
                      </a:r>
                      <a:r>
                        <a:rPr b="1" lang="en-I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 Navyatha Govindu </a:t>
                      </a:r>
                      <a:endParaRPr b="1"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10"/>
                        <a:buFont typeface="Times New Roman"/>
                        <a:buNone/>
                      </a:pPr>
                      <a:r>
                        <a:rPr lang="en-I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SOA </a:t>
                      </a:r>
                      <a:r>
                        <a:rPr lang="en-IN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Professor,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10"/>
                        <a:buFont typeface="Times New Roman"/>
                        <a:buNone/>
                      </a:pPr>
                      <a:r>
                        <a:rPr b="1" lang="en-IN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Department of </a:t>
                      </a:r>
                      <a:r>
                        <a:rPr b="1" lang="en-IN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Computer Science and Engineering,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10"/>
                        <a:buFont typeface="Times New Roman"/>
                        <a:buNone/>
                      </a:pPr>
                      <a:r>
                        <a:rPr lang="en-IN"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KLH CSE Bowrampet Campus</a:t>
                      </a: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0" name="Google Shape;170;p1"/>
          <p:cNvGrpSpPr/>
          <p:nvPr/>
        </p:nvGrpSpPr>
        <p:grpSpPr>
          <a:xfrm>
            <a:off x="385368" y="4538579"/>
            <a:ext cx="307843" cy="280931"/>
            <a:chOff x="1510710" y="1589091"/>
            <a:chExt cx="307843" cy="280931"/>
          </a:xfrm>
        </p:grpSpPr>
        <p:sp>
          <p:nvSpPr>
            <p:cNvPr id="171" name="Google Shape;171;p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>
                <a:gd fmla="val 50000" name="adj"/>
              </a:avLst>
            </a:prstGeom>
            <a:solidFill>
              <a:srgbClr val="00B0F0"/>
            </a:solidFill>
            <a:ln cap="flat" cmpd="sng" w="19050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 rot="-9747857">
              <a:off x="1683856" y="1639371"/>
              <a:ext cx="114245" cy="153379"/>
            </a:xfrm>
            <a:prstGeom prst="triangle">
              <a:avLst>
                <a:gd fmla="val 50000" name="adj"/>
              </a:avLst>
            </a:prstGeom>
            <a:solidFill>
              <a:srgbClr val="00B0F0"/>
            </a:solidFill>
            <a:ln cap="flat" cmpd="sng" w="19050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" name="Google Shape;173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/>
              <a:t>Date</a:t>
            </a:r>
            <a:endParaRPr b="1"/>
          </a:p>
        </p:txBody>
      </p:sp>
      <p:sp>
        <p:nvSpPr>
          <p:cNvPr id="174" name="Google Shape;174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/>
              <a:t>SOA Project Review-1</a:t>
            </a:r>
            <a:endParaRPr/>
          </a:p>
        </p:txBody>
      </p:sp>
      <p:sp>
        <p:nvSpPr>
          <p:cNvPr id="175" name="Google Shape;175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6" name="Google Shape;176;p1"/>
          <p:cNvSpPr/>
          <p:nvPr/>
        </p:nvSpPr>
        <p:spPr>
          <a:xfrm>
            <a:off x="638175" y="769267"/>
            <a:ext cx="10915650" cy="98564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" name="Google Shape;17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"/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AI-Driven Adaptive Login Fraud Detection and Risk Scoring System 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SOA Project Review-1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I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3600"/>
              <a:buFont typeface="Times New Roman"/>
              <a:buNone/>
            </a:pPr>
            <a:r>
              <a:rPr b="1" i="0" lang="en-IN" sz="3600" u="none" cap="none" strike="noStrike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 of Project Work</a:t>
            </a:r>
            <a:endParaRPr/>
          </a:p>
        </p:txBody>
      </p:sp>
      <p:grpSp>
        <p:nvGrpSpPr>
          <p:cNvPr id="188" name="Google Shape;188;p2"/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89" name="Google Shape;189;p2"/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/>
                <a:buChar char="•"/>
              </a:pPr>
              <a:r>
                <a:rPr b="1" i="0" lang="en-IN" sz="2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Challenges</a:t>
              </a:r>
              <a:endParaRPr/>
            </a:p>
            <a:p>
              <a:pPr indent="-18288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" name="Google Shape;190;p2"/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/>
                <a:buChar char="•"/>
              </a:pPr>
              <a:r>
                <a:rPr b="1" i="0" lang="en-IN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Research Objectives</a:t>
              </a:r>
              <a:endParaRPr/>
            </a:p>
            <a:p>
              <a:pPr indent="-18288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1" name="Google Shape;191;p2"/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/>
                <a:buChar char="•"/>
              </a:pPr>
              <a:r>
                <a:rPr b="1" i="0" lang="en-IN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 &amp; Future Work</a:t>
              </a:r>
              <a:endParaRPr/>
            </a:p>
            <a:p>
              <a:pPr indent="-182880" lvl="0" marL="430213" marR="0" rtl="0" algn="l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2" name="Google Shape;192;p2"/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/>
                <a:buChar char="•"/>
              </a:pPr>
              <a:r>
                <a:rPr b="1" i="0" lang="en-IN" sz="2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</a:t>
              </a:r>
              <a:br>
                <a:rPr b="1" i="0" lang="en-IN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b="1" i="0" sz="1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" name="Google Shape;193;p2"/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/>
                <a:buChar char="•"/>
              </a:pPr>
              <a:r>
                <a:rPr b="1" i="0" lang="en-IN" sz="18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Publications Details</a:t>
              </a:r>
              <a:endParaRPr/>
            </a:p>
            <a:p>
              <a:pPr indent="-182880" lvl="0" marL="430213" marR="0" rtl="0" algn="l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1" i="0" sz="1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94" name="Google Shape;19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84243">
              <a:off x="8229530" y="5002476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2"/>
            <p:cNvSpPr txBox="1"/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4290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/>
                <a:buChar char="•"/>
              </a:pPr>
              <a:r>
                <a:rPr b="1" i="0" lang="en-IN" sz="2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Focus</a:t>
              </a:r>
              <a:endParaRPr/>
            </a:p>
            <a:p>
              <a:pPr indent="-18288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8288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8288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8288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82880" lvl="0" marL="430213" marR="0" rtl="0" algn="l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68580" lvl="0" marL="228600" marR="0" rtl="0" algn="l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68580" lvl="0" marL="228600" marR="0" rtl="0" algn="l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762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6" name="Google Shape;196;p2"/>
            <p:cNvSpPr txBox="1"/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4290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/>
                <a:buChar char="•"/>
              </a:pPr>
              <a:r>
                <a:rPr b="1" i="0" lang="en-IN" sz="2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Introduction</a:t>
              </a:r>
              <a:endParaRPr/>
            </a:p>
            <a:p>
              <a:pPr indent="-18288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8288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8288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8288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82880" lvl="0" marL="430213" marR="0" rtl="0" algn="l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68580" lvl="0" marL="228600" marR="0" rtl="0" algn="l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68580" lvl="0" marL="228600" marR="0" rtl="0" algn="l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762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97" name="Google Shape;19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84243">
              <a:off x="7683523" y="4358877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84243">
              <a:off x="7229942" y="3813495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84243">
              <a:off x="6863353" y="3200501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84243">
              <a:off x="6443196" y="2766955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84243">
              <a:off x="6040392" y="2252522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84243">
              <a:off x="5626122" y="1721293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p2"/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430213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/>
                <a:buChar char="•"/>
              </a:pPr>
              <a:r>
                <a:rPr b="1" i="0" lang="en-IN" sz="204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Survey</a:t>
              </a:r>
              <a:endParaRPr b="1" i="0" sz="204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04" name="Google Shape;2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49380" y="0"/>
            <a:ext cx="1901110" cy="6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"/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  <p:pic>
        <p:nvPicPr>
          <p:cNvPr id="210" name="Google Shape;2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"/>
          <p:cNvSpPr txBox="1"/>
          <p:nvPr/>
        </p:nvSpPr>
        <p:spPr>
          <a:xfrm>
            <a:off x="295225" y="1446850"/>
            <a:ext cx="10947600" cy="47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The Rise of Credential Theft:</a:t>
            </a:r>
            <a:r>
              <a:rPr lang="en-IN" sz="2000">
                <a:solidFill>
                  <a:schemeClr val="dk1"/>
                </a:solidFill>
              </a:rPr>
              <a:t> Fraudulent login attempts have become a major cybersecurity concern in modern web applications. Attackers frequently gain unauthorized access by exploiting stolen credentials, unfamiliar devices, and unusual geographic locations.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Inadequacy of Conventional Systems:</a:t>
            </a:r>
            <a:r>
              <a:rPr lang="en-IN" sz="2000">
                <a:solidFill>
                  <a:schemeClr val="dk1"/>
                </a:solidFill>
              </a:rPr>
              <a:t> Current authentication mechanisms rely primarily on basic usernames, passwords, and fixed security rules.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Vulnerability to Evolving Threats:</a:t>
            </a:r>
            <a:r>
              <a:rPr lang="en-IN" sz="2000">
                <a:solidFill>
                  <a:schemeClr val="dk1"/>
                </a:solidFill>
              </a:rPr>
              <a:t> These static security rules are no longer sufficient to identify sophisticated or continuously evolving login threats.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Lack of Behavioral Analysis:</a:t>
            </a:r>
            <a:r>
              <a:rPr lang="en-IN" sz="2000">
                <a:solidFill>
                  <a:schemeClr val="dk1"/>
                </a:solidFill>
              </a:rPr>
              <a:t> Existing systems fail to dynamically assess risk, making them unable to detect abnormal login behavior or deviations from a user's normal patterns.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"/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pic>
        <p:nvPicPr>
          <p:cNvPr id="217" name="Google Shape;2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"/>
          <p:cNvSpPr txBox="1"/>
          <p:nvPr/>
        </p:nvSpPr>
        <p:spPr>
          <a:xfrm>
            <a:off x="470100" y="1524250"/>
            <a:ext cx="11251800" cy="51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Behavioral Analysis:</a:t>
            </a:r>
            <a:r>
              <a:rPr lang="en-IN" sz="2000">
                <a:solidFill>
                  <a:schemeClr val="dk1"/>
                </a:solidFill>
              </a:rPr>
              <a:t> To design a system that detects suspicious login activities by analyzing behavioral and contextual characteristics associated with user authentication.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Dynamic Risk Scoring:</a:t>
            </a:r>
            <a:r>
              <a:rPr lang="en-IN" sz="2000">
                <a:solidFill>
                  <a:schemeClr val="dk1"/>
                </a:solidFill>
              </a:rPr>
              <a:t> To incorporate a machine learning-based anomaly detection approach to classify login attempts and generate a fraud risk score ranging from low to critical risk.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Adaptive Responses:</a:t>
            </a:r>
            <a:r>
              <a:rPr lang="en-IN" sz="2000">
                <a:solidFill>
                  <a:schemeClr val="dk1"/>
                </a:solidFill>
              </a:rPr>
              <a:t> To enable adaptive security decisions based on the real-time risk associated with each login attempt.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Modern Architecture:</a:t>
            </a:r>
            <a:r>
              <a:rPr lang="en-IN" sz="2000">
                <a:solidFill>
                  <a:schemeClr val="dk1"/>
                </a:solidFill>
              </a:rPr>
              <a:t> To implement the solution using a Service-Oriented Architecture with independent microservices, providing modularity, scalability, and secure communication.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" name="Google Shape;224;p5"/>
          <p:cNvGraphicFramePr/>
          <p:nvPr/>
        </p:nvGraphicFramePr>
        <p:xfrm>
          <a:off x="274646" y="1092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{2F113127-47D2-4EE3-9D6E-61976BB60C62}</a:tableStyleId>
              </a:tblPr>
              <a:tblGrid>
                <a:gridCol w="1089000"/>
                <a:gridCol w="2275300"/>
                <a:gridCol w="2476100"/>
                <a:gridCol w="2936600"/>
                <a:gridCol w="2865725"/>
              </a:tblGrid>
              <a:tr h="387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the Paper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Limitation/Future work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</a:tr>
              <a:tr h="154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u="sng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Smith et al. (2022) 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Learning Approaches for Real-Time Login Fraud Detection</a:t>
                      </a:r>
                      <a:endParaRPr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317500" lvl="0" marL="4572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imes New Roman"/>
                        <a:buChar char="●"/>
                      </a:pPr>
                      <a:r>
                        <a:rPr b="1" lang="en-I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Utilized Random Forest and XGBoost algorithms to perform anomaly detection on user authentication logs. </a:t>
                      </a:r>
                      <a:endParaRPr b="0" i="0" sz="1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317500" lvl="0" marL="4572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imes New Roman"/>
                        <a:buChar char="●"/>
                      </a:pPr>
                      <a:r>
                        <a:rPr b="1" lang="en-I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model successfully identified abnormal login behaviors and achieved a high detection accuracy of 94%. </a:t>
                      </a:r>
                      <a:endParaRPr b="1" i="0" sz="1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Char char="•"/>
                      </a:pPr>
                      <a:r>
                        <a:rPr b="1" lang="en-I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system relied on a monolithic architecture, which caused significant latency and scaling issues during high-traffic authentication events. </a:t>
                      </a:r>
                      <a:endParaRPr b="1" i="0" sz="1400" u="non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135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u="sng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Johnson &amp; Lee (2023) </a:t>
                      </a:r>
                      <a:endParaRPr b="1" i="0" sz="1400" u="non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Context-Aware Adaptive Authentication Systems </a:t>
                      </a:r>
                      <a:endParaRPr b="1" i="0" sz="1400" u="non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imes New Roman"/>
                        <a:buChar char="●"/>
                      </a:pPr>
                      <a:r>
                        <a:rPr b="1" lang="en-I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Evaluated contextual attributes like IP address, device ID, and time-of-day to build user behavioral profiles.</a:t>
                      </a:r>
                      <a:endParaRPr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1968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imes New Roman"/>
                        <a:buChar char="●"/>
                      </a:pPr>
                      <a:r>
                        <a:rPr b="1" lang="en-I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Successfully implemented dynamic risk tiers to trigger Multi-Factor Authentication (MFA) only when necessary. </a:t>
                      </a:r>
                      <a:endParaRPr b="1" i="0" sz="1400" u="non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imes New Roman"/>
                        <a:buChar char="●"/>
                      </a:pPr>
                      <a:r>
                        <a:rPr b="1" lang="en-I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architecture lacked independent microservices, making it difficult to maintain and integrate with modern cloud-based web applications.</a:t>
                      </a:r>
                      <a:r>
                        <a:rPr b="1" lang="en-I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b="1" i="0" sz="140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135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u="sng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Patel et al. (2021) </a:t>
                      </a:r>
                      <a:endParaRPr b="1" i="0" sz="1400" u="non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Securing Web Applications using Service-Oriented Architecture </a:t>
                      </a:r>
                      <a:endParaRPr b="1" i="0" sz="1400" u="non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imes New Roman"/>
                        <a:buChar char="●"/>
                      </a:pPr>
                      <a:r>
                        <a:rPr b="1" lang="en-I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Implemented JWT-based authentication and API Gateways within a distributed database-per-service ecosystem. </a:t>
                      </a:r>
                      <a:endParaRPr b="1" sz="1400" u="non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imes New Roman"/>
                        <a:buChar char="●"/>
                      </a:pPr>
                      <a:r>
                        <a:rPr b="1" lang="en-I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Greatly improved system modularity, fault tolerance, and isolated security failures. </a:t>
                      </a:r>
                      <a:endParaRPr b="1" i="0" sz="1400" u="non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imes New Roman"/>
                        <a:buChar char="●"/>
                      </a:pPr>
                      <a:r>
                        <a:rPr b="1" lang="en-I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Relied entirely on static security rules and did not incorporate any AI or machine learning for dynamic, real-time threat analysis. </a:t>
                      </a:r>
                      <a:endParaRPr b="1" i="0" sz="1400" u="non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5" name="Google Shape;225;p5"/>
          <p:cNvSpPr txBox="1"/>
          <p:nvPr/>
        </p:nvSpPr>
        <p:spPr>
          <a:xfrm>
            <a:off x="4560565" y="136525"/>
            <a:ext cx="307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0064C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29" name="Google Shape;22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"/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Gap Identification</a:t>
            </a:r>
            <a:endParaRPr/>
          </a:p>
        </p:txBody>
      </p:sp>
      <p:pic>
        <p:nvPicPr>
          <p:cNvPr id="235" name="Google Shape;2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6"/>
          <p:cNvSpPr txBox="1"/>
          <p:nvPr/>
        </p:nvSpPr>
        <p:spPr>
          <a:xfrm>
            <a:off x="485850" y="1628450"/>
            <a:ext cx="11220300" cy="48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Static vs. Dynamic Security:</a:t>
            </a:r>
            <a:r>
              <a:rPr lang="en-IN" sz="2000">
                <a:solidFill>
                  <a:schemeClr val="dk1"/>
                </a:solidFill>
              </a:rPr>
              <a:t> Existing authentication models rely heavily on fixed security rules, failing to dynamically assess the real-time risk of individual login attempts.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Lack of Behavioral Context:</a:t>
            </a:r>
            <a:r>
              <a:rPr lang="en-IN" sz="2000">
                <a:solidFill>
                  <a:schemeClr val="dk1"/>
                </a:solidFill>
              </a:rPr>
              <a:t> Conventional systems do not adequately analyze behavioral characteristics or historical login patterns to detect sophisticated, continuously evolving threats.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Monolithic Limitations:</a:t>
            </a:r>
            <a:r>
              <a:rPr lang="en-IN" sz="2000">
                <a:solidFill>
                  <a:schemeClr val="dk1"/>
                </a:solidFill>
              </a:rPr>
              <a:t> Traditional security architectures lack the modularity, maintainability, and scalability that a modern, microservices-based Service-Oriented Architecture (SOA) provides.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Innovation, Creativity, and Novelty</a:t>
            </a:r>
            <a:endParaRPr/>
          </a:p>
        </p:txBody>
      </p:sp>
      <p:pic>
        <p:nvPicPr>
          <p:cNvPr id="242" name="Google Shape;2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 txBox="1"/>
          <p:nvPr/>
        </p:nvSpPr>
        <p:spPr>
          <a:xfrm>
            <a:off x="545275" y="1698775"/>
            <a:ext cx="111468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Dynamic Risk Evaluation:</a:t>
            </a:r>
            <a:r>
              <a:rPr lang="en-IN" sz="2000">
                <a:solidFill>
                  <a:schemeClr val="dk1"/>
                </a:solidFill>
              </a:rPr>
              <a:t> The system intelligently shifts away from static authentication by using a machine learning-based anomaly detection approach to generate real-time risk scores (ranging from low to critical) for every login attempt.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Adaptive Actionable Responses:</a:t>
            </a:r>
            <a:r>
              <a:rPr lang="en-IN" sz="2000">
                <a:solidFill>
                  <a:schemeClr val="dk1"/>
                </a:solidFill>
              </a:rPr>
              <a:t> Instead of simple "allow/deny" rules, the system dynamically adapts: allowing low-risk logins, demanding additional verification for medium-risk, or actively blocking and reporting high-risk threats.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Advanced Microservices Ecosystem:</a:t>
            </a:r>
            <a:r>
              <a:rPr lang="en-IN" sz="2000">
                <a:solidFill>
                  <a:schemeClr val="dk1"/>
                </a:solidFill>
              </a:rPr>
              <a:t> The architecture innovatively integrates independent microservices (Authentication, Fraud Analysis, Alerts, Analytics) using modern technologies like Spring Boot, Eureka Service Registry, and JWT to ensure secure, modular, and scalable communication.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Feasibility and Project Plan</a:t>
            </a:r>
            <a:endParaRPr/>
          </a:p>
        </p:txBody>
      </p:sp>
      <p:sp>
        <p:nvSpPr>
          <p:cNvPr id="249" name="Google Shape;249;p8"/>
          <p:cNvSpPr txBox="1"/>
          <p:nvPr/>
        </p:nvSpPr>
        <p:spPr>
          <a:xfrm>
            <a:off x="475300" y="1438350"/>
            <a:ext cx="11397900" cy="56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chemeClr val="dk1"/>
                </a:solidFill>
              </a:rPr>
              <a:t>Technical Feasibility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The proposed system is highly feasible as it is built using proven, modern microservices technologies including Spring Boot, Spring Cloud Gateway, and Eureka Service Registry.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Reliability and security are guaranteed through the planned incorporation of API testing, unit testing, integration testing, and CI/CD practices.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chemeClr val="dk1"/>
                </a:solidFill>
              </a:rPr>
              <a:t>Project Plan &amp; Timeline (Phases)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IN" sz="1700">
                <a:solidFill>
                  <a:schemeClr val="dk1"/>
                </a:solidFill>
              </a:rPr>
              <a:t>Phase 1: Architecture Setup:</a:t>
            </a:r>
            <a:r>
              <a:rPr lang="en-IN" sz="1700">
                <a:solidFill>
                  <a:schemeClr val="dk1"/>
                </a:solidFill>
              </a:rPr>
              <a:t> Initial Service-Oriented Architecture design, database-per-service setup, and configuration of the Eureka Service Registry and Spring Cloud Gateway.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IN" sz="1700">
                <a:solidFill>
                  <a:schemeClr val="dk1"/>
                </a:solidFill>
              </a:rPr>
              <a:t>Phase 2: Core Security:</a:t>
            </a:r>
            <a:r>
              <a:rPr lang="en-IN" sz="1700">
                <a:solidFill>
                  <a:schemeClr val="dk1"/>
                </a:solidFill>
              </a:rPr>
              <a:t> Development of the Authentication Service, managing user registration, secure login, and JWT-based role authorization.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IN" sz="1700">
                <a:solidFill>
                  <a:schemeClr val="dk1"/>
                </a:solidFill>
              </a:rPr>
              <a:t>Phase 3: AI Integration:</a:t>
            </a:r>
            <a:r>
              <a:rPr lang="en-IN" sz="1700">
                <a:solidFill>
                  <a:schemeClr val="dk1"/>
                </a:solidFill>
              </a:rPr>
              <a:t> Implementation of the Fraud and Risk Analysis Service and integration of the machine learning model for calculating risk scores.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IN" sz="1700">
                <a:solidFill>
                  <a:schemeClr val="dk1"/>
                </a:solidFill>
              </a:rPr>
              <a:t>Phase 4: Monitoring &amp; Alerts:</a:t>
            </a:r>
            <a:r>
              <a:rPr lang="en-IN" sz="1700">
                <a:solidFill>
                  <a:schemeClr val="dk1"/>
                </a:solidFill>
              </a:rPr>
              <a:t> Deployment of the Alert and Notification Service alongside the centralized Security Analytics dashboard for administrators.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IN" sz="1700">
                <a:solidFill>
                  <a:schemeClr val="dk1"/>
                </a:solidFill>
              </a:rPr>
              <a:t>Phase 5: Testing &amp; Deployment:</a:t>
            </a:r>
            <a:r>
              <a:rPr lang="en-IN" sz="1700">
                <a:solidFill>
                  <a:schemeClr val="dk1"/>
                </a:solidFill>
              </a:rPr>
              <a:t> Comprehensive API, unit, and integration testing, followed by final security analysis and CI/CD pipeline deployment.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</p:txBody>
      </p:sp>
      <p:pic>
        <p:nvPicPr>
          <p:cNvPr id="250" name="Google Shape;2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ad77c513f_3_36"/>
          <p:cNvSpPr txBox="1"/>
          <p:nvPr>
            <p:ph type="ctrTitle"/>
          </p:nvPr>
        </p:nvSpPr>
        <p:spPr>
          <a:xfrm>
            <a:off x="1524000" y="923136"/>
            <a:ext cx="9144000" cy="466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300"/>
              <a:t>THANK YOU</a:t>
            </a:r>
            <a:endParaRPr sz="9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2026-08-08T06:33:56Z</dcterms:created>
  <dc:creator>srikanth ch</dc:creator>
</cp:coreProperties>
</file>